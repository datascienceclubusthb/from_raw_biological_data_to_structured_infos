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7D4A54-6C81-43E1-A91A-34FC615DD000}">
  <a:tblStyle styleId="{3E7D4A54-6C81-43E1-A91A-34FC615DD0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251960" cy="5143500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47472" y="59436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C5D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7C5DE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47472" y="914400"/>
            <a:ext cx="36118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Raw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Biological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Structured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47472" y="3291840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C5D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7C5DE"/>
                </a:solidFill>
                <a:latin typeface="Calibri"/>
                <a:ea typeface="Calibri"/>
                <a:cs typeface="Calibri"/>
                <a:sym typeface="Calibri"/>
              </a:rPr>
              <a:t>How Biological Signals Become Usable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47472" y="4224528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1D6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47472" y="4297680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47472" y="4553712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3B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A3BE"/>
                </a:solidFill>
                <a:latin typeface="Calibri"/>
                <a:ea typeface="Calibri"/>
                <a:cs typeface="Calibri"/>
                <a:sym typeface="Calibri"/>
              </a:rPr>
              <a:t>For: Biology · Medical · Data Science Students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26280" y="320040"/>
            <a:ext cx="4297680" cy="2103120"/>
          </a:xfrm>
          <a:prstGeom prst="rect">
            <a:avLst/>
          </a:prstGeom>
          <a:solidFill>
            <a:srgbClr val="E8E8EA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26280" y="114300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IMAGE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36008" y="1371600"/>
            <a:ext cx="4078224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IMAGE: DNA sequencer / Illumina machine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Search: 'Illumina sequencer machine photo'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26280" y="2633472"/>
            <a:ext cx="4297680" cy="2103120"/>
          </a:xfrm>
          <a:prstGeom prst="rect">
            <a:avLst/>
          </a:prstGeom>
          <a:solidFill>
            <a:srgbClr val="E8E8EA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26280" y="345643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IMAGE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636008" y="3685032"/>
            <a:ext cx="4078224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IMAGE: Clean pandas DataFrame table screenshot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Search: 'pandas dataframe screenshot python'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26280" y="23774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this workshop bridges these two worlds 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 title="ILLUMI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6275" y="320050"/>
            <a:ext cx="4297675" cy="21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 title="structured 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275" y="2633475"/>
            <a:ext cx="4297674" cy="23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4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4"/>
          <p:cNvSpPr/>
          <p:nvPr/>
        </p:nvSpPr>
        <p:spPr>
          <a:xfrm>
            <a:off x="365760" y="496399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937760" y="496399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What We'll Do Today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4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Five stages — from biological sample to analyzable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11480" y="1444730"/>
            <a:ext cx="1417200" cy="1188600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11480" y="1837944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11480" y="1535893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203909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FASTA / FASTQ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files from sequencer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4"/>
          <p:cNvCxnSpPr/>
          <p:nvPr/>
        </p:nvCxnSpPr>
        <p:spPr>
          <a:xfrm>
            <a:off x="1828800" y="2039090"/>
            <a:ext cx="255900" cy="0"/>
          </a:xfrm>
          <a:prstGeom prst="straightConnector1">
            <a:avLst/>
          </a:prstGeom>
          <a:noFill/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" name="Google Shape;49;p4"/>
          <p:cNvSpPr/>
          <p:nvPr/>
        </p:nvSpPr>
        <p:spPr>
          <a:xfrm>
            <a:off x="2084832" y="1444730"/>
            <a:ext cx="1417200" cy="1188600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084832" y="1837944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084832" y="1535893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130552" y="203909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Inspect &amp; measure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3502152" y="2039090"/>
            <a:ext cx="255900" cy="0"/>
          </a:xfrm>
          <a:prstGeom prst="straightConnector1">
            <a:avLst/>
          </a:prstGeom>
          <a:noFill/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" name="Google Shape;54;p4"/>
          <p:cNvSpPr/>
          <p:nvPr/>
        </p:nvSpPr>
        <p:spPr>
          <a:xfrm>
            <a:off x="3758184" y="1444730"/>
            <a:ext cx="1417200" cy="1188600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758184" y="1837944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758184" y="1535893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803904" y="203909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 bad reads,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trim adapters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4"/>
          <p:cNvCxnSpPr/>
          <p:nvPr/>
        </p:nvCxnSpPr>
        <p:spPr>
          <a:xfrm>
            <a:off x="5175504" y="2039090"/>
            <a:ext cx="255900" cy="0"/>
          </a:xfrm>
          <a:prstGeom prst="straightConnector1">
            <a:avLst/>
          </a:prstGeom>
          <a:noFill/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" name="Google Shape;59;p4"/>
          <p:cNvSpPr/>
          <p:nvPr/>
        </p:nvSpPr>
        <p:spPr>
          <a:xfrm>
            <a:off x="5431536" y="1444730"/>
            <a:ext cx="1417200" cy="1188600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431536" y="1837944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31536" y="1535893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77256" y="203909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Sequences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numeric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4"/>
          <p:cNvCxnSpPr/>
          <p:nvPr/>
        </p:nvCxnSpPr>
        <p:spPr>
          <a:xfrm>
            <a:off x="6848856" y="2039090"/>
            <a:ext cx="255900" cy="0"/>
          </a:xfrm>
          <a:prstGeom prst="straightConnector1">
            <a:avLst/>
          </a:prstGeom>
          <a:noFill/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4"/>
          <p:cNvSpPr/>
          <p:nvPr/>
        </p:nvSpPr>
        <p:spPr>
          <a:xfrm>
            <a:off x="7104888" y="1444730"/>
            <a:ext cx="1417200" cy="1188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104888" y="1837944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AF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BEAF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04863" y="1535893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150608" y="203909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AF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EAF7"/>
                </a:solidFill>
                <a:latin typeface="Calibri"/>
                <a:ea typeface="Calibri"/>
                <a:cs typeface="Calibri"/>
                <a:sym typeface="Calibri"/>
              </a:rPr>
              <a:t>Clean structured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EAF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EAF7"/>
                </a:solidFill>
                <a:latin typeface="Calibri"/>
                <a:ea typeface="Calibri"/>
                <a:cs typeface="Calibri"/>
                <a:sym typeface="Calibri"/>
              </a:rPr>
              <a:t>table / matrix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11455" y="267006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Each step has a scientific purpose — nothing is arbitrary.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 title="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687" y="2944246"/>
            <a:ext cx="4968624" cy="1934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5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365760" y="496399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37760" y="496399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What Is Biological Data, Really?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5"/>
          <p:cNvSpPr/>
          <p:nvPr/>
        </p:nvSpPr>
        <p:spPr>
          <a:xfrm>
            <a:off x="411475" y="1203623"/>
            <a:ext cx="45720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Biological data = measurements extracted from living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Generated by machines: sequencers, scanners, mass spectrometers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Outputs as text files, tables, or signal readouts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is almost always noisy, incomplete, or mixed with errors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Like a weather sensor — reads something physical, writes a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5"/>
          <p:cNvGraphicFramePr/>
          <p:nvPr/>
        </p:nvGraphicFramePr>
        <p:xfrm>
          <a:off x="411480" y="3159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{3E7D4A54-6C81-43E1-A91A-34FC615DD000}</a:tableStyleId>
              </a:tblPr>
              <a:tblGrid>
                <a:gridCol w="1371600"/>
                <a:gridCol w="1737350"/>
                <a:gridCol w="1463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Biological Signal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Format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Blood sample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 sequence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 / FASTQ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Tumor tissue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 expression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Brain scan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Neural activity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 file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5"/>
          <p:cNvSpPr/>
          <p:nvPr/>
        </p:nvSpPr>
        <p:spPr>
          <a:xfrm>
            <a:off x="5257800" y="26289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IMAGE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" title="la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975" y="1456525"/>
            <a:ext cx="3572376" cy="25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6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365760" y="496399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937760" y="496399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SEQUENCING HISTORY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Where It Started — 1st Generation Sequencing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411475" y="960500"/>
            <a:ext cx="1699500" cy="984000"/>
          </a:xfrm>
          <a:prstGeom prst="rect">
            <a:avLst/>
          </a:prstGeom>
          <a:solidFill>
            <a:srgbClr val="F4F4F5"/>
          </a:solidFill>
          <a:ln cap="flat" cmpd="sng" w="186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11475" y="996282"/>
            <a:ext cx="1699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72"/>
              <a:buFont typeface="Calibri"/>
              <a:buNone/>
            </a:pPr>
            <a:r>
              <a:rPr b="1" i="0" lang="en-US" sz="1272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1977</a:t>
            </a:r>
            <a:endParaRPr b="0" i="0" sz="12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83039" y="1246758"/>
            <a:ext cx="1556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Sanger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Sequencing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invented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6"/>
          <p:cNvCxnSpPr/>
          <p:nvPr/>
        </p:nvCxnSpPr>
        <p:spPr>
          <a:xfrm>
            <a:off x="2111120" y="1452506"/>
            <a:ext cx="375600" cy="0"/>
          </a:xfrm>
          <a:prstGeom prst="straightConnector1">
            <a:avLst/>
          </a:prstGeom>
          <a:noFill/>
          <a:ln cap="flat" cmpd="sng" w="12425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6"/>
          <p:cNvSpPr/>
          <p:nvPr/>
        </p:nvSpPr>
        <p:spPr>
          <a:xfrm>
            <a:off x="2486830" y="960500"/>
            <a:ext cx="1699500" cy="984000"/>
          </a:xfrm>
          <a:prstGeom prst="rect">
            <a:avLst/>
          </a:prstGeom>
          <a:solidFill>
            <a:srgbClr val="F4F4F5"/>
          </a:solidFill>
          <a:ln cap="flat" cmpd="sng" w="186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486830" y="996282"/>
            <a:ext cx="1699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72"/>
              <a:buFont typeface="Calibri"/>
              <a:buNone/>
            </a:pPr>
            <a:r>
              <a:rPr b="1" i="0" lang="en-US" sz="1272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1990</a:t>
            </a:r>
            <a:endParaRPr b="0" i="0" sz="12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558394" y="1246758"/>
            <a:ext cx="1556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Human Genome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launched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6"/>
          <p:cNvCxnSpPr/>
          <p:nvPr/>
        </p:nvCxnSpPr>
        <p:spPr>
          <a:xfrm>
            <a:off x="4186475" y="1452506"/>
            <a:ext cx="375600" cy="0"/>
          </a:xfrm>
          <a:prstGeom prst="straightConnector1">
            <a:avLst/>
          </a:prstGeom>
          <a:noFill/>
          <a:ln cap="flat" cmpd="sng" w="12425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6"/>
          <p:cNvSpPr/>
          <p:nvPr/>
        </p:nvSpPr>
        <p:spPr>
          <a:xfrm>
            <a:off x="4562186" y="960500"/>
            <a:ext cx="1699500" cy="984000"/>
          </a:xfrm>
          <a:prstGeom prst="rect">
            <a:avLst/>
          </a:prstGeom>
          <a:solidFill>
            <a:srgbClr val="F4F4F5"/>
          </a:solidFill>
          <a:ln cap="flat" cmpd="sng" w="186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62186" y="996282"/>
            <a:ext cx="1699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72"/>
              <a:buFont typeface="Calibri"/>
              <a:buNone/>
            </a:pPr>
            <a:r>
              <a:rPr b="1" i="0" lang="en-US" sz="1272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2003</a:t>
            </a:r>
            <a:endParaRPr b="0" i="0" sz="12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33750" y="1246758"/>
            <a:ext cx="1556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HGP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years later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6261830" y="1452506"/>
            <a:ext cx="375600" cy="0"/>
          </a:xfrm>
          <a:prstGeom prst="straightConnector1">
            <a:avLst/>
          </a:prstGeom>
          <a:noFill/>
          <a:ln cap="flat" cmpd="sng" w="12425">
            <a:solidFill>
              <a:srgbClr val="D4D4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6"/>
          <p:cNvSpPr/>
          <p:nvPr/>
        </p:nvSpPr>
        <p:spPr>
          <a:xfrm>
            <a:off x="6637541" y="960500"/>
            <a:ext cx="1699500" cy="984000"/>
          </a:xfrm>
          <a:prstGeom prst="rect">
            <a:avLst/>
          </a:prstGeom>
          <a:solidFill>
            <a:srgbClr val="F4F4F5"/>
          </a:solidFill>
          <a:ln cap="flat" cmpd="sng" w="186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637541" y="996282"/>
            <a:ext cx="1699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72"/>
              <a:buFont typeface="Calibri"/>
              <a:buNone/>
            </a:pPr>
            <a:r>
              <a:rPr b="1" i="0" lang="en-US" sz="1272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2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709105" y="1246758"/>
            <a:ext cx="1556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genome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 2-3 days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78"/>
              <a:buFont typeface="Calibri"/>
              <a:buNone/>
            </a:pPr>
            <a:r>
              <a:rPr b="0" i="0" lang="en-US" sz="978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&lt; $300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11475" y="2176275"/>
            <a:ext cx="84126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Frederick Sanger (1977) — first practical DNA sequencing method, Nobel Prize 1980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(</a:t>
            </a: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1st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was Maxam–Gilbert, </a:t>
            </a:r>
            <a:r>
              <a:rPr i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chemical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Human Genome Project (HGP) — international effort, 1990–2003, cost ~$3 billion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Produced the first full map of human DNA — 3 billion base pairs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Sanger method: accurate but slow — reads one fragment at a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Could only sequence short pieces (~800 bp) one at a time — not scalable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11475" y="4407400"/>
            <a:ext cx="8412600" cy="3840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5C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8640" y="445312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Cost comparison:   1990s genome → ~$3 billion  ·  2000s → ~$100 million  ·  Today → under $300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7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7"/>
          <p:cNvSpPr/>
          <p:nvPr/>
        </p:nvSpPr>
        <p:spPr>
          <a:xfrm>
            <a:off x="365760" y="496399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937760" y="496399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SEQUENCING HISTORY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2nd Generation — The NGS Revolution (Illumina)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"/>
          <p:cNvSpPr/>
          <p:nvPr/>
        </p:nvSpPr>
        <p:spPr>
          <a:xfrm>
            <a:off x="411475" y="1005850"/>
            <a:ext cx="49377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Next-Generation Sequencing (NGS) emerged ~2005 — completely changed the 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idea: sequence millions of short fragments in parallel — not one at a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Illumina is the dominant platform — used in &gt;80% of sequencing worldwide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Reads are short: ~100–250 bp each, but you get hundreds of millions of them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 entire genome in 1–2 days, at a fraction of the cost of Sanger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Output: FASTQ files — raw reads + quality scores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7"/>
          <p:cNvGraphicFramePr/>
          <p:nvPr/>
        </p:nvGraphicFramePr>
        <p:xfrm>
          <a:off x="411492" y="3643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{3E7D4A54-6C81-43E1-A91A-34FC615DD000}</a:tableStyleId>
              </a:tblPr>
              <a:tblGrid>
                <a:gridCol w="1737350"/>
                <a:gridCol w="3200400"/>
                <a:gridCol w="3383275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Sanger (1st gen)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NGS — Illumina (2nd gen)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 length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~800 bp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100–250 bp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Hours per read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Genome in 1–2 days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 billion (HGP)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~$200–600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FASTQ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7" name="Google Shape;127;p7" title="NGS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800" y="1656313"/>
            <a:ext cx="3840499" cy="18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8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8"/>
          <p:cNvSpPr/>
          <p:nvPr/>
        </p:nvSpPr>
        <p:spPr>
          <a:xfrm>
            <a:off x="365760" y="496399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937760" y="496399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SEQUENCING HISTORY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3rd Generation &amp; Types of Biological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8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8"/>
          <p:cNvSpPr/>
          <p:nvPr/>
        </p:nvSpPr>
        <p:spPr>
          <a:xfrm>
            <a:off x="411480" y="987552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3rd Generation (PacBio, Oxford Nanopore)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11480" y="1513336"/>
            <a:ext cx="4206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Long reads — up to 10,000+ bp in one piece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Better at repetitive or complex regions of the genome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Still improving in accuracy — the future of sequencing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Oxford Nanopore: portable, real-time sequencing in a USB device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Used in: structural variation, long-range assembly, direct RNA sequencing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892040" y="9875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Types of Biological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892040" y="129844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Genomic DNA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892040" y="15179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genome sequence — FASTA / FASTQ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4892040" y="1755648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8"/>
          <p:cNvSpPr/>
          <p:nvPr/>
        </p:nvSpPr>
        <p:spPr>
          <a:xfrm>
            <a:off x="4892040" y="1810512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RNA / Transcriptome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892040" y="20299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 expression levels — FASTQ → count matrix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8"/>
          <p:cNvCxnSpPr/>
          <p:nvPr/>
        </p:nvCxnSpPr>
        <p:spPr>
          <a:xfrm>
            <a:off x="4892040" y="2267712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8"/>
          <p:cNvSpPr/>
          <p:nvPr/>
        </p:nvSpPr>
        <p:spPr>
          <a:xfrm>
            <a:off x="4892040" y="23225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Epigenomics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892040" y="254203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Methylation, chromatin — BED / BigWig files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4892040" y="277977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4892040" y="283464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Metagenomics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892040" y="305409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Mixed microbial samples — FASTA / FASTQ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8"/>
          <p:cNvCxnSpPr/>
          <p:nvPr/>
        </p:nvCxnSpPr>
        <p:spPr>
          <a:xfrm>
            <a:off x="4892040" y="3291840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8"/>
          <p:cNvSpPr/>
          <p:nvPr/>
        </p:nvSpPr>
        <p:spPr>
          <a:xfrm>
            <a:off x="4892040" y="334670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Proteomics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892040" y="35661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Protein quantities — tab-separated tables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4709160" y="987552"/>
            <a:ext cx="0" cy="333756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/>
          <p:nvPr/>
        </p:nvSpPr>
        <p:spPr>
          <a:xfrm>
            <a:off x="411480" y="4407408"/>
            <a:ext cx="8321040" cy="384048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67C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48640" y="445312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Common raw file formats:   FASTA  ·  FASTQ  ·  BAM / SAM  ·  BED  ·  VCF  ·  Count matrix (CSV)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9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9"/>
          <p:cNvSpPr/>
          <p:nvPr/>
        </p:nvSpPr>
        <p:spPr>
          <a:xfrm>
            <a:off x="361197" y="4965256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891935" y="4965075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SEQUENCING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How We 'Read' DNA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>
            <a:off x="411480" y="1211578"/>
            <a:ext cx="44349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DNA is the instruction manual inside every living cell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Sequencing = reading the order of letters (A, T, G, C) in DNA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Modern sequencers break DNA into millions of short pieces called reads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read is a short string of ~100–150 letters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machine outputs all reads as a text file — this is your raw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 experiment can produce 30–100 GB of raw 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11480" y="3913632"/>
            <a:ext cx="4434840" cy="82296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5C8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66928" y="395935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Analogy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66928" y="4142232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Imagine shredding a book into millions of tiny paper strips — each strip has only a few words. A sequencer does exactly this to DNA and outputs the strips as 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532120" y="26289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IMAGE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641848" y="2857500"/>
            <a:ext cx="3072384" cy="1787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IMAGE: DNA → fragments → sequencer → text file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Search: 'next generation sequencing workflow diagram simple'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Source: genome.gov / Wikipedia Commons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9" title="NGS Protoc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300" y="984300"/>
            <a:ext cx="3487924" cy="366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10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0"/>
          <p:cNvSpPr/>
          <p:nvPr/>
        </p:nvSpPr>
        <p:spPr>
          <a:xfrm>
            <a:off x="365760" y="494667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937760" y="4937474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FORMAT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Meet FASTA — The Language of Biological Sequences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365750" y="1295826"/>
            <a:ext cx="41148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Plain text format for storing DNA / RNA / protein sequences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 parts per entry: a header (starts with &gt;) and the sequence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letter = one nucleotide: A · T · G ·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Unknown base = N   (machine couldn't read it clearly)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664055" y="1018238"/>
            <a:ext cx="420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What's inside a FASTA header?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664050" y="1302880"/>
            <a:ext cx="3987900" cy="804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823564" y="1412608"/>
            <a:ext cx="3722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&gt;seq1  organism=Homo_sapiens  gene=BRCA1  chr=17:43044295  len=80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C5D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7C5DE"/>
                </a:solidFill>
                <a:latin typeface="Courier New"/>
                <a:ea typeface="Courier New"/>
                <a:cs typeface="Courier New"/>
                <a:sym typeface="Courier New"/>
              </a:rPr>
              <a:t>  ^ID   ^species          ^gene name  ^genome location           ^length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664055" y="2163525"/>
            <a:ext cx="420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header (&gt;) can carry: sequence ID, species, gene name, chromosome position, strand, length, and sample metadata — all in one 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664050" y="2813650"/>
            <a:ext cx="3987900" cy="1253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823568" y="2927609"/>
            <a:ext cx="37221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&gt;Sequence_1  Sample:BloodA | Len:50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ATGCTTACGGATCGAATGCTAGCATGCTAGCTAGCGATCG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&gt;Sequence_2  Sample:BloodA | Len:50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NNATGCTAGCTGCATCGATCGATCGATCNNCGATCNNC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950" u="none" cap="none" strike="noStrike">
              <a:solidFill>
                <a:srgbClr val="DC262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^ N = unknown base (machine error)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480550" y="4385650"/>
            <a:ext cx="46194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Key insight: FASTA is a plain text file — but it contains noise, errors and unknowns.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0" title="protine fas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47" y="3698213"/>
            <a:ext cx="4203400" cy="6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11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1"/>
          <p:cNvSpPr/>
          <p:nvPr/>
        </p:nvSpPr>
        <p:spPr>
          <a:xfrm>
            <a:off x="365760" y="496507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937760" y="4955876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Why Raw Data Cannot Be Used Directly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411480" y="1024128"/>
            <a:ext cx="4041648" cy="11887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48640" y="1088136"/>
            <a:ext cx="3813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Unknown bases 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48640" y="1316736"/>
            <a:ext cx="3813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Machine couldn't read the letter — unreliable positions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84632" y="1554480"/>
            <a:ext cx="3895344" cy="59436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548640" y="1572768"/>
            <a:ext cx="3785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Example:  ATGCNN ATCG  — the two N's are complete unknowns. Any analysis using them is a guess.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11480" y="2331720"/>
            <a:ext cx="4041648" cy="11887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548640" y="2395728"/>
            <a:ext cx="3813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Low quality reads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48640" y="2624328"/>
            <a:ext cx="3813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Confidence score too low — data is essentially a guess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84632" y="2862072"/>
            <a:ext cx="3895344" cy="59436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548640" y="2880360"/>
            <a:ext cx="3785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Example:  Phred Q8 = 84% accuracy. If 1 in 6 bases is wrong, any downstream count will be wrong.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11480" y="3639312"/>
            <a:ext cx="4041648" cy="11887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48640" y="3703320"/>
            <a:ext cx="3813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Short reads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8640" y="3931920"/>
            <a:ext cx="3813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Fragment too small — can't anchor it to the genome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84632" y="4169664"/>
            <a:ext cx="3895344" cy="59436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548640" y="4187952"/>
            <a:ext cx="3785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Example:  'ATGC' appears in thousands of places. A 15 bp read can't be placed uniquely — it's useless.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663440" y="1024128"/>
            <a:ext cx="4041648" cy="11887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4800600" y="1088136"/>
            <a:ext cx="3813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800600" y="1316736"/>
            <a:ext cx="3813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molecule sequenced multiple times — inflates 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736592" y="1554480"/>
            <a:ext cx="3895344" cy="59436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4800600" y="1572768"/>
            <a:ext cx="3785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Example:  Gene A appears 1,000 times instead of 10 — but 990 are PCR copies. Count is 100x inflated.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663440" y="2331720"/>
            <a:ext cx="4041648" cy="11887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800600" y="2395728"/>
            <a:ext cx="3813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Contamination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800600" y="2624328"/>
            <a:ext cx="3813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from another organism accidentally mixed 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736592" y="2862072"/>
            <a:ext cx="3895344" cy="59436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4800600" y="2880360"/>
            <a:ext cx="3785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Example:  Human sample contains 5% mouse DNA from the lab. Every mouse gene will show false expression.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663440" y="3639312"/>
            <a:ext cx="4041648" cy="11887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800600" y="3703320"/>
            <a:ext cx="3813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Adapter sequences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800600" y="3931920"/>
            <a:ext cx="3813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machine tags must be removed before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736592" y="4169664"/>
            <a:ext cx="3895344" cy="59436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800600" y="4187952"/>
            <a:ext cx="3785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Example:  AGATCGGAAGAGC... is an Illumina adapter — not your DNA. It maps to nothing and creates noise.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12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2"/>
          <p:cNvSpPr/>
          <p:nvPr/>
        </p:nvSpPr>
        <p:spPr>
          <a:xfrm>
            <a:off x="365760" y="494667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937760" y="4946675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QC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Quality Control — Separating Signal from Noise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2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2"/>
          <p:cNvSpPr/>
          <p:nvPr/>
        </p:nvSpPr>
        <p:spPr>
          <a:xfrm>
            <a:off x="365755" y="1234402"/>
            <a:ext cx="4434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QC = systematically measuring data quality before using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Answers the question: how reliable is my data?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65755" y="1920203"/>
            <a:ext cx="4434900" cy="42060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521203" y="1947635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Per-base quality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521203" y="2130515"/>
            <a:ext cx="411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confident was the machine at each position?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365755" y="2395691"/>
            <a:ext cx="44349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521203" y="2423123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Read length distribution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21203" y="2606003"/>
            <a:ext cx="411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Are reads long enough to be useful?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65750" y="2871174"/>
            <a:ext cx="4434900" cy="56700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521203" y="2898611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GC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25800" y="3145450"/>
            <a:ext cx="4114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Is the base composition biologically normal? </a:t>
            </a: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9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 Human → ~40–45%,                                         Some bacteria → can be 30%,70%</a:t>
            </a:r>
            <a:endParaRPr sz="9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61155" y="3541092"/>
            <a:ext cx="44349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516603" y="3568524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Duplication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16603" y="3751404"/>
            <a:ext cx="411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many reads are just copies of each other?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65755" y="4046280"/>
            <a:ext cx="4434900" cy="420600"/>
          </a:xfrm>
          <a:prstGeom prst="rect">
            <a:avLst/>
          </a:prstGeom>
          <a:solidFill>
            <a:srgbClr val="F4F4F5"/>
          </a:solidFill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521203" y="4073712"/>
            <a:ext cx="411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N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21203" y="4256592"/>
            <a:ext cx="411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fraction of bases are unknown (N)?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11455" y="4617655"/>
            <a:ext cx="832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Standard tool: FastQC  (Simon Andrews, Babraham Institute)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120640" y="451713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FastQC per-base quality plot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2" title="q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075" y="1142062"/>
            <a:ext cx="4039349" cy="3338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13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3"/>
          <p:cNvSpPr/>
          <p:nvPr/>
        </p:nvSpPr>
        <p:spPr>
          <a:xfrm>
            <a:off x="365760" y="494667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937760" y="4946675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FORMAT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FASTQ — Quality Scores Built Into the File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3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3"/>
          <p:cNvSpPr/>
          <p:nvPr/>
        </p:nvSpPr>
        <p:spPr>
          <a:xfrm>
            <a:off x="411480" y="987552"/>
            <a:ext cx="3977640" cy="1051560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548640" y="10241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FASTA header:  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48640" y="1261872"/>
            <a:ext cx="37307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Used for stored, curated sequences (e.g. reference genomes, databases). No quality scores — just sequence. Example: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&gt;gene_BRCA1  chr17:43044295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ATGCTTACGGATCG...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617720" y="987552"/>
            <a:ext cx="4206240" cy="1051560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4754880" y="102412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FASTQ header:  @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754880" y="126187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C4A6E"/>
                </a:solidFill>
                <a:latin typeface="Courier New"/>
                <a:ea typeface="Courier New"/>
                <a:cs typeface="Courier New"/>
                <a:sym typeface="Courier New"/>
              </a:rPr>
              <a:t>Used for raw sequencer output — includes quality scores. Looks like FASTA but adds 2 extra lines. Example: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C4A6E"/>
                </a:solidFill>
                <a:latin typeface="Courier New"/>
                <a:ea typeface="Courier New"/>
                <a:cs typeface="Courier New"/>
                <a:sym typeface="Courier New"/>
              </a:rPr>
              <a:t>@Read_001 instrument:NB501 run:12 lane:1 tile:1101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C4A6E"/>
                </a:solidFill>
                <a:latin typeface="Courier New"/>
                <a:ea typeface="Courier New"/>
                <a:cs typeface="Courier New"/>
                <a:sym typeface="Courier New"/>
              </a:rPr>
              <a:t>ATGCTTACGGATCGAATGCTAGC...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11480" y="22128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731520" y="21945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Header  (@)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731520" y="238658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 ID + instrument + run + lane + tile 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11480" y="26243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731520" y="26060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31520" y="279806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DNA string: A / T / G / C / 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11480" y="3035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31520" y="30175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Separator (+)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731520" y="320954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Just a + sign — marks end of sequence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11480" y="34472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731520" y="3429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731520" y="36210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ASCII Phred+33 — one character per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617720" y="2157984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How ASCII quality characters decode to Phred scores: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8" name="Google Shape;298;p13"/>
          <p:cNvGraphicFramePr/>
          <p:nvPr/>
        </p:nvGraphicFramePr>
        <p:xfrm>
          <a:off x="461772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{3E7D4A54-6C81-43E1-A91A-34FC615DD000}</a:tableStyleId>
              </a:tblPr>
              <a:tblGrid>
                <a:gridCol w="731525"/>
                <a:gridCol w="1005850"/>
                <a:gridCol w="1005850"/>
                <a:gridCol w="1463050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Character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ASCII value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Phred score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worst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Q20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99% accuracy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?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Q30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99.9% — gold std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Q40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99.99% — best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13"/>
          <p:cNvSpPr/>
          <p:nvPr/>
        </p:nvSpPr>
        <p:spPr>
          <a:xfrm>
            <a:off x="4617720" y="3547872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Formula: Phred = ASCII value − 33   (Phred+33 encoding)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11480" y="3858768"/>
            <a:ext cx="4114800" cy="9601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576072" y="3968496"/>
            <a:ext cx="384048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@Read_001  Sample:BloodA  chr1:12345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ATGCTTACGGATCGAATGCTAGCATGCNN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IIIIIIIIHHHHHHHHGGGGGGGG!!!!!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C5D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7C5DE"/>
                </a:solidFill>
                <a:latin typeface="Courier New"/>
                <a:ea typeface="Courier New"/>
                <a:cs typeface="Courier New"/>
                <a:sym typeface="Courier New"/>
              </a:rPr>
              <a:t> Q40Q40 ...  Q30 ...   Q0 = bad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3" title="asci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725" y="3785625"/>
            <a:ext cx="4297676" cy="109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6625" y="2514213"/>
            <a:ext cx="2299001" cy="63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p14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4"/>
          <p:cNvSpPr/>
          <p:nvPr/>
        </p:nvSpPr>
        <p:spPr>
          <a:xfrm>
            <a:off x="365760" y="496507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4937760" y="496507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Filtering — Keeping Only What We Can Trust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4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4"/>
          <p:cNvSpPr/>
          <p:nvPr/>
        </p:nvSpPr>
        <p:spPr>
          <a:xfrm>
            <a:off x="411480" y="10607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777240" y="1042416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Quality filtering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77240" y="127101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 reads with average Phred &lt; 20  (below 99% accuracy per base)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4"/>
          <p:cNvCxnSpPr/>
          <p:nvPr/>
        </p:nvCxnSpPr>
        <p:spPr>
          <a:xfrm>
            <a:off x="411480" y="164592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4"/>
          <p:cNvSpPr/>
          <p:nvPr/>
        </p:nvSpPr>
        <p:spPr>
          <a:xfrm>
            <a:off x="411480" y="17190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777240" y="1700784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Length filtering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777240" y="192938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 reads shorter than 50 bp  (too short to anchor to a genome)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4"/>
          <p:cNvCxnSpPr/>
          <p:nvPr/>
        </p:nvCxnSpPr>
        <p:spPr>
          <a:xfrm>
            <a:off x="411480" y="230428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4"/>
          <p:cNvSpPr/>
          <p:nvPr/>
        </p:nvSpPr>
        <p:spPr>
          <a:xfrm>
            <a:off x="411480" y="23774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777240" y="2359152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N-base filtering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777240" y="2587752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 reads with more than 5% unknown (N) bases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14"/>
          <p:cNvCxnSpPr/>
          <p:nvPr/>
        </p:nvCxnSpPr>
        <p:spPr>
          <a:xfrm>
            <a:off x="411480" y="296265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4"/>
          <p:cNvSpPr/>
          <p:nvPr/>
        </p:nvSpPr>
        <p:spPr>
          <a:xfrm>
            <a:off x="411480" y="3035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777240" y="3017520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Adapter trimming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77240" y="324612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Cut synthetic sequences that the machine attaches to both ends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4"/>
          <p:cNvCxnSpPr/>
          <p:nvPr/>
        </p:nvCxnSpPr>
        <p:spPr>
          <a:xfrm>
            <a:off x="411480" y="362102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4"/>
          <p:cNvSpPr/>
          <p:nvPr/>
        </p:nvSpPr>
        <p:spPr>
          <a:xfrm>
            <a:off x="411480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77240" y="3675888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Deduplication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777240" y="3904488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 reads that are exact copies — PCR artifacts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Common tools: Trim Galore  ·  Fastp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4" title="afterQ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449" y="1331200"/>
            <a:ext cx="3785999" cy="28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15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5"/>
          <p:cNvSpPr/>
          <p:nvPr/>
        </p:nvSpPr>
        <p:spPr>
          <a:xfrm>
            <a:off x="365760" y="496507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937760" y="4955876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TRANSFORMATION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Turning Sequences Into Something Analyzable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5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15"/>
          <p:cNvSpPr/>
          <p:nvPr/>
        </p:nvSpPr>
        <p:spPr>
          <a:xfrm>
            <a:off x="411480" y="98755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After cleaning, we still have millions of text strings — not a 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11480" y="1371600"/>
            <a:ext cx="1234440" cy="713232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11480" y="137160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Cleaned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Sequences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5"/>
          <p:cNvCxnSpPr/>
          <p:nvPr/>
        </p:nvCxnSpPr>
        <p:spPr>
          <a:xfrm>
            <a:off x="1645920" y="1728216"/>
            <a:ext cx="50292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15"/>
          <p:cNvSpPr/>
          <p:nvPr/>
        </p:nvSpPr>
        <p:spPr>
          <a:xfrm>
            <a:off x="2148840" y="1371600"/>
            <a:ext cx="1234440" cy="713232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2148840" y="137160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Count 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Encode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5"/>
          <p:cNvCxnSpPr/>
          <p:nvPr/>
        </p:nvCxnSpPr>
        <p:spPr>
          <a:xfrm>
            <a:off x="3383280" y="1728216"/>
            <a:ext cx="502920" cy="0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4" name="Google Shape;354;p15"/>
          <p:cNvSpPr/>
          <p:nvPr/>
        </p:nvSpPr>
        <p:spPr>
          <a:xfrm>
            <a:off x="3886200" y="1371600"/>
            <a:ext cx="1234440" cy="713232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3886200" y="1371600"/>
            <a:ext cx="1234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Numeric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Matrix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411480" y="2304288"/>
            <a:ext cx="47091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Counting: how many reads land on each gene? → count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Encoding: convert sequence to numeric vector  (A=[1,0,0,0])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Aggregation: per-sample summary statistics → feature 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End result: rows × columns matrix — just like a normal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Rows = samples / patients   |   Columns = genes /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11517" y="4297721"/>
            <a:ext cx="4709100" cy="384000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67C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48678" y="4334297"/>
            <a:ext cx="4434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Once you have a table of numbers, you are in data science territory.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376672" y="960120"/>
            <a:ext cx="3456432" cy="2286000"/>
          </a:xfrm>
          <a:prstGeom prst="rect">
            <a:avLst/>
          </a:prstGeom>
          <a:solidFill>
            <a:srgbClr val="E8E8EA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5376672" y="1874520"/>
            <a:ext cx="34564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IMAGE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486400" y="2103120"/>
            <a:ext cx="3236976" cy="103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IMAGE: Gene expression count matrix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Search: 'RNA-seq count matrix gene expression table'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5376672" y="3310128"/>
            <a:ext cx="34564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Example — what the output table looks like: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5"/>
          <p:cNvGraphicFramePr/>
          <p:nvPr/>
        </p:nvGraphicFramePr>
        <p:xfrm>
          <a:off x="5376672" y="3547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{3E7D4A54-6C81-43E1-A91A-34FC615DD000}</a:tableStyleId>
              </a:tblPr>
              <a:tblGrid>
                <a:gridCol w="914400"/>
                <a:gridCol w="822950"/>
                <a:gridCol w="822950"/>
                <a:gridCol w="896100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BRCA1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TP53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EGFR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A6E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Patient_A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Patient_B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4102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Patient_C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1876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4" name="Google Shape;364;p15"/>
          <p:cNvSpPr/>
          <p:nvPr/>
        </p:nvSpPr>
        <p:spPr>
          <a:xfrm>
            <a:off x="5376672" y="4480570"/>
            <a:ext cx="345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Rows = patients  ·  Columns = genes  ·  Values = read counts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000" y="941825"/>
            <a:ext cx="37356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1" name="Google Shape;371;p16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6"/>
          <p:cNvSpPr/>
          <p:nvPr/>
        </p:nvSpPr>
        <p:spPr>
          <a:xfrm>
            <a:off x="365760" y="49834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937760" y="498348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FULL PICTURE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The Complete Journey — Sample to Dataset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6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6"/>
          <p:cNvSpPr/>
          <p:nvPr/>
        </p:nvSpPr>
        <p:spPr>
          <a:xfrm>
            <a:off x="411480" y="978408"/>
            <a:ext cx="2011680" cy="402336"/>
          </a:xfrm>
          <a:prstGeom prst="rect">
            <a:avLst/>
          </a:prstGeom>
          <a:solidFill>
            <a:srgbClr val="F4F4F5"/>
          </a:solidFill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521208" y="1005840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Biological Sample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521208" y="1197864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Blood / Tissue / Cells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6"/>
          <p:cNvCxnSpPr/>
          <p:nvPr/>
        </p:nvCxnSpPr>
        <p:spPr>
          <a:xfrm>
            <a:off x="1417320" y="1380744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16"/>
          <p:cNvSpPr/>
          <p:nvPr/>
        </p:nvSpPr>
        <p:spPr>
          <a:xfrm>
            <a:off x="411480" y="1463040"/>
            <a:ext cx="2011680" cy="402336"/>
          </a:xfrm>
          <a:prstGeom prst="rect">
            <a:avLst/>
          </a:prstGeom>
          <a:solidFill>
            <a:srgbClr val="F4F4F5"/>
          </a:solidFill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521208" y="1490472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Sequencing Machine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521208" y="1682496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Illumina / PacBio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6"/>
          <p:cNvCxnSpPr/>
          <p:nvPr/>
        </p:nvCxnSpPr>
        <p:spPr>
          <a:xfrm>
            <a:off x="1417320" y="1865376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" name="Google Shape;385;p16"/>
          <p:cNvSpPr/>
          <p:nvPr/>
        </p:nvSpPr>
        <p:spPr>
          <a:xfrm>
            <a:off x="411480" y="1947672"/>
            <a:ext cx="2011680" cy="402336"/>
          </a:xfrm>
          <a:prstGeom prst="rect">
            <a:avLst/>
          </a:prstGeom>
          <a:solidFill>
            <a:srgbClr val="F4F4F5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521208" y="1975104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Raw FASTQ 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21208" y="2167128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Millions of reads + quality scores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6"/>
          <p:cNvCxnSpPr/>
          <p:nvPr/>
        </p:nvCxnSpPr>
        <p:spPr>
          <a:xfrm>
            <a:off x="1417320" y="2350008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9" name="Google Shape;389;p16"/>
          <p:cNvSpPr/>
          <p:nvPr/>
        </p:nvSpPr>
        <p:spPr>
          <a:xfrm>
            <a:off x="411480" y="2432304"/>
            <a:ext cx="2011680" cy="402336"/>
          </a:xfrm>
          <a:prstGeom prst="rect">
            <a:avLst/>
          </a:prstGeom>
          <a:solidFill>
            <a:srgbClr val="F4F4F5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521208" y="2459736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21208" y="2651760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FastQC — inspect every metric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16"/>
          <p:cNvCxnSpPr/>
          <p:nvPr/>
        </p:nvCxnSpPr>
        <p:spPr>
          <a:xfrm>
            <a:off x="1417320" y="2834640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3" name="Google Shape;393;p16"/>
          <p:cNvSpPr/>
          <p:nvPr/>
        </p:nvSpPr>
        <p:spPr>
          <a:xfrm>
            <a:off x="411480" y="2916936"/>
            <a:ext cx="2011680" cy="402336"/>
          </a:xfrm>
          <a:prstGeom prst="rect">
            <a:avLst/>
          </a:prstGeom>
          <a:solidFill>
            <a:srgbClr val="EBF8FC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521208" y="2944368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Filtering &amp; Trimming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21208" y="3136392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 bad reads, cut adapters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6"/>
          <p:cNvCxnSpPr/>
          <p:nvPr/>
        </p:nvCxnSpPr>
        <p:spPr>
          <a:xfrm>
            <a:off x="1417320" y="3319272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7" name="Google Shape;397;p16"/>
          <p:cNvSpPr/>
          <p:nvPr/>
        </p:nvSpPr>
        <p:spPr>
          <a:xfrm>
            <a:off x="411480" y="3401568"/>
            <a:ext cx="2011680" cy="402336"/>
          </a:xfrm>
          <a:prstGeom prst="rect">
            <a:avLst/>
          </a:prstGeom>
          <a:solidFill>
            <a:srgbClr val="EBF8FC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521208" y="3429000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Transformation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521208" y="3621024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Sequences → numeric features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6"/>
          <p:cNvCxnSpPr/>
          <p:nvPr/>
        </p:nvCxnSpPr>
        <p:spPr>
          <a:xfrm>
            <a:off x="1417320" y="3803904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1" name="Google Shape;401;p16"/>
          <p:cNvSpPr/>
          <p:nvPr/>
        </p:nvSpPr>
        <p:spPr>
          <a:xfrm>
            <a:off x="411480" y="3886200"/>
            <a:ext cx="2011680" cy="402336"/>
          </a:xfrm>
          <a:prstGeom prst="rect">
            <a:avLst/>
          </a:prstGeom>
          <a:solidFill>
            <a:srgbClr val="F0FDF4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521208" y="3913632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Structured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21208" y="4105656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DataFrame / CSV / Count matrix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6"/>
          <p:cNvCxnSpPr/>
          <p:nvPr/>
        </p:nvCxnSpPr>
        <p:spPr>
          <a:xfrm>
            <a:off x="1417320" y="4288536"/>
            <a:ext cx="0" cy="82296"/>
          </a:xfrm>
          <a:prstGeom prst="straightConnector1">
            <a:avLst/>
          </a:prstGeom>
          <a:noFill/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16"/>
          <p:cNvSpPr/>
          <p:nvPr/>
        </p:nvSpPr>
        <p:spPr>
          <a:xfrm>
            <a:off x="411480" y="4370832"/>
            <a:ext cx="2011680" cy="402336"/>
          </a:xfrm>
          <a:prstGeom prst="rect">
            <a:avLst/>
          </a:prstGeom>
          <a:solidFill>
            <a:srgbClr val="F0FDF4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521208" y="4398264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521208" y="4590288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Statistics · ML · Visualization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2834640" y="106984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 Every step is logged and reproducible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834640" y="203911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 Skipping any step introduces downstream errors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2834640" y="349300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 Universal across all genomics research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2834640" y="4910328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—  End-to-end: biology → data science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7818120" y="978408"/>
            <a:ext cx="102412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7818120" y="978408"/>
            <a:ext cx="1024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7818120" y="1947672"/>
            <a:ext cx="102412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7818120" y="1947672"/>
            <a:ext cx="1024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7818120" y="2916936"/>
            <a:ext cx="102412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7818120" y="2916936"/>
            <a:ext cx="1024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7818120" y="4370832"/>
            <a:ext cx="1024128" cy="40233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7818120" y="4370832"/>
            <a:ext cx="1024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5" name="Google Shape;425;p17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7"/>
          <p:cNvSpPr/>
          <p:nvPr/>
        </p:nvSpPr>
        <p:spPr>
          <a:xfrm>
            <a:off x="365760" y="49834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4937760" y="498348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SCIENCE CONNECTION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Biological Data vs. Regular 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7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31" name="Google Shape;431;p17"/>
          <p:cNvGraphicFramePr/>
          <p:nvPr/>
        </p:nvGraphicFramePr>
        <p:xfrm>
          <a:off x="41148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{3E7D4A54-6C81-43E1-A91A-34FC615DD000}</a:tableStyleId>
              </a:tblPr>
              <a:tblGrid>
                <a:gridCol w="1828800"/>
                <a:gridCol w="3200400"/>
                <a:gridCol w="32918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Regular Dataset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A6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C4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Biological Dataset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CSV, Excel, JSON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FASTA, FASTQ, BAM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Noise source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values, typos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errors, biology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Thousands of rows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Millions of reads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Known columns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Must be derived (genes)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Preprocessing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Normalize, impute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QC, trim, align, count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Biology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4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432" name="Google Shape;432;p17"/>
          <p:cNvSpPr/>
          <p:nvPr/>
        </p:nvSpPr>
        <p:spPr>
          <a:xfrm>
            <a:off x="411480" y="3950208"/>
            <a:ext cx="3977640" cy="804672"/>
          </a:xfrm>
          <a:prstGeom prst="rect">
            <a:avLst/>
          </a:prstGeom>
          <a:solidFill>
            <a:srgbClr val="F4F4F5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548640" y="3995928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Good news for data scientists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48640" y="4224528"/>
            <a:ext cx="37307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 already know the preprocessing mindset. Only the file format is new.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617720" y="3950208"/>
            <a:ext cx="3977640" cy="804672"/>
          </a:xfrm>
          <a:prstGeom prst="rect">
            <a:avLst/>
          </a:prstGeom>
          <a:solidFill>
            <a:srgbClr val="F4F4F5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4754880" y="3995928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Good news for biology students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754880" y="4224528"/>
            <a:ext cx="37307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 don't need Python to understand why each pipeline step makes sense.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3" name="Google Shape;443;p18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18"/>
          <p:cNvSpPr/>
          <p:nvPr/>
        </p:nvSpPr>
        <p:spPr>
          <a:xfrm>
            <a:off x="365760" y="4955876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4937760" y="4955876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REAL WORLD 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Why This Matters in Real Medicine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18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18"/>
          <p:cNvSpPr/>
          <p:nvPr/>
        </p:nvSpPr>
        <p:spPr>
          <a:xfrm>
            <a:off x="411480" y="105156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548640" y="11795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Cancer Genomics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48640" y="1490472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Sequencing tumor vs. normal tissue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Poor QC → false targets → wrong therapy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246120" y="105156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3383280" y="11795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Alzheimer's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383280" y="1490472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 expression in brain tissue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Bad filtering → misleading biology signals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080760" y="105156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6217920" y="11795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Pandemic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217920" y="1490472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Viral genome sequencing (COVID-19)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Low quality → wrong variant classification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411480" y="292608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548640" y="30540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Rare Disease Diagnosis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548640" y="3364992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Finding mutations in patient genomes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Noisy data → missed or false diagnoses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3246120" y="292608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3383280" y="30540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Drug Response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3383280" y="3364992"/>
            <a:ext cx="23774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ML models on patient gene expression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Dirty data → biased model → wrong drugs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6080760" y="2926080"/>
            <a:ext cx="2606040" cy="1691640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6080760" y="3017520"/>
            <a:ext cx="2606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a patient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 issue.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6080760" y="418795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C5D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7C5DE"/>
                </a:solidFill>
                <a:latin typeface="Calibri"/>
                <a:ea typeface="Calibri"/>
                <a:cs typeface="Calibri"/>
                <a:sym typeface="Calibri"/>
              </a:rPr>
              <a:t>Not just a technical concern.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2" name="Google Shape;472;p19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9"/>
          <p:cNvSpPr/>
          <p:nvPr/>
        </p:nvSpPr>
        <p:spPr>
          <a:xfrm>
            <a:off x="365760" y="4955876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4937760" y="4946675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Let's Run the Pipeline Together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9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9"/>
          <p:cNvSpPr/>
          <p:nvPr/>
        </p:nvSpPr>
        <p:spPr>
          <a:xfrm>
            <a:off x="411480" y="107899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777240" y="10789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Load 30 raw simulated sequencing reads (FASTQ-like structure)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19"/>
          <p:cNvCxnSpPr/>
          <p:nvPr/>
        </p:nvCxnSpPr>
        <p:spPr>
          <a:xfrm>
            <a:off x="411480" y="1563624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19"/>
          <p:cNvSpPr/>
          <p:nvPr/>
        </p:nvSpPr>
        <p:spPr>
          <a:xfrm>
            <a:off x="411480" y="165506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777240" y="165506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Calculate QC metrics: quality score, read length, N-fraction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19"/>
          <p:cNvCxnSpPr/>
          <p:nvPr/>
        </p:nvCxnSpPr>
        <p:spPr>
          <a:xfrm>
            <a:off x="411480" y="2139696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19"/>
          <p:cNvSpPr/>
          <p:nvPr/>
        </p:nvSpPr>
        <p:spPr>
          <a:xfrm>
            <a:off x="411480" y="223113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777240" y="223113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Inspect data quality — see the problems before we fix them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9"/>
          <p:cNvCxnSpPr/>
          <p:nvPr/>
        </p:nvCxnSpPr>
        <p:spPr>
          <a:xfrm>
            <a:off x="411480" y="2715768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9"/>
          <p:cNvSpPr/>
          <p:nvPr/>
        </p:nvSpPr>
        <p:spPr>
          <a:xfrm>
            <a:off x="411480" y="280720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777240" y="28072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Apply quality filters and log the reason for each removed read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9"/>
          <p:cNvCxnSpPr/>
          <p:nvPr/>
        </p:nvCxnSpPr>
        <p:spPr>
          <a:xfrm>
            <a:off x="411480" y="3291840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19"/>
          <p:cNvSpPr/>
          <p:nvPr/>
        </p:nvSpPr>
        <p:spPr>
          <a:xfrm>
            <a:off x="411480" y="338328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777240" y="33832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Transform clean sequences into a numeric feature table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19"/>
          <p:cNvCxnSpPr/>
          <p:nvPr/>
        </p:nvCxnSpPr>
        <p:spPr>
          <a:xfrm>
            <a:off x="411480" y="3867912"/>
            <a:ext cx="448056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19"/>
          <p:cNvSpPr/>
          <p:nvPr/>
        </p:nvSpPr>
        <p:spPr>
          <a:xfrm>
            <a:off x="411480" y="395935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777240" y="39593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Produce a per-sample summary ready for downstream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411480" y="4480560"/>
            <a:ext cx="4480560" cy="347472"/>
          </a:xfrm>
          <a:prstGeom prst="rect">
            <a:avLst/>
          </a:prstGeom>
          <a:solidFill>
            <a:srgbClr val="F4F4F5"/>
          </a:solidFill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502920" y="451713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Python  ·  pandas only  ·  No specialized libraries  ·  Fully runnable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940" y="1625172"/>
            <a:ext cx="22098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3" name="Google Shape;503;p20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20"/>
          <p:cNvSpPr/>
          <p:nvPr/>
        </p:nvSpPr>
        <p:spPr>
          <a:xfrm>
            <a:off x="365760" y="496507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4937760" y="4965077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411480" y="731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What You Should Walk Away Knowing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20"/>
          <p:cNvCxnSpPr/>
          <p:nvPr/>
        </p:nvCxnSpPr>
        <p:spPr>
          <a:xfrm>
            <a:off x="411480" y="859536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20"/>
          <p:cNvSpPr/>
          <p:nvPr/>
        </p:nvSpPr>
        <p:spPr>
          <a:xfrm>
            <a:off x="777240" y="1051560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Biological data starts as raw, noisy text files (FASTA / FASTQ)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777240" y="1563624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QC is non-negotiable — you must measure quality before trusting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777240" y="2075688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Filtering removes unreliable data, not random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777240" y="258775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Transformation converts sequences into structured numeric datasets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777240" y="3099816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❖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pipeline is reproducible, logical, and domain-transferable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777240" y="3611880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50"/>
              <a:buFont typeface="Calibri"/>
              <a:buChar char="❖"/>
            </a:pPr>
            <a:r>
              <a:rPr b="1" i="0" lang="en-US" sz="11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Data quality in biology directly impacts scientific and medical conclusions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777240" y="4123944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 don't need to be a biology expert — but understand what each step protects against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745245" y="4503420"/>
            <a:ext cx="1389900" cy="3291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745245" y="4503420"/>
            <a:ext cx="138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20"/>
          <p:cNvCxnSpPr/>
          <p:nvPr/>
        </p:nvCxnSpPr>
        <p:spPr>
          <a:xfrm>
            <a:off x="2139696" y="4782312"/>
            <a:ext cx="256032" cy="0"/>
          </a:xfrm>
          <a:prstGeom prst="straightConnector1">
            <a:avLst/>
          </a:prstGeom>
          <a:noFill/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20"/>
          <p:cNvSpPr/>
          <p:nvPr/>
        </p:nvSpPr>
        <p:spPr>
          <a:xfrm>
            <a:off x="2391166" y="4503420"/>
            <a:ext cx="1389900" cy="3291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2391166" y="4503420"/>
            <a:ext cx="138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QC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20"/>
          <p:cNvCxnSpPr/>
          <p:nvPr/>
        </p:nvCxnSpPr>
        <p:spPr>
          <a:xfrm>
            <a:off x="3785616" y="4782312"/>
            <a:ext cx="256032" cy="0"/>
          </a:xfrm>
          <a:prstGeom prst="straightConnector1">
            <a:avLst/>
          </a:prstGeom>
          <a:noFill/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2" name="Google Shape;522;p20"/>
          <p:cNvSpPr/>
          <p:nvPr/>
        </p:nvSpPr>
        <p:spPr>
          <a:xfrm>
            <a:off x="4037086" y="4503420"/>
            <a:ext cx="1389900" cy="3291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4037086" y="4503420"/>
            <a:ext cx="138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20"/>
          <p:cNvCxnSpPr/>
          <p:nvPr/>
        </p:nvCxnSpPr>
        <p:spPr>
          <a:xfrm>
            <a:off x="5431536" y="4782312"/>
            <a:ext cx="256032" cy="0"/>
          </a:xfrm>
          <a:prstGeom prst="straightConnector1">
            <a:avLst/>
          </a:prstGeom>
          <a:noFill/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20"/>
          <p:cNvSpPr/>
          <p:nvPr/>
        </p:nvSpPr>
        <p:spPr>
          <a:xfrm>
            <a:off x="5683006" y="4503420"/>
            <a:ext cx="1389900" cy="3291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5683006" y="4503420"/>
            <a:ext cx="138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20"/>
          <p:cNvCxnSpPr/>
          <p:nvPr/>
        </p:nvCxnSpPr>
        <p:spPr>
          <a:xfrm>
            <a:off x="7077456" y="4782312"/>
            <a:ext cx="256032" cy="0"/>
          </a:xfrm>
          <a:prstGeom prst="straightConnector1">
            <a:avLst/>
          </a:prstGeom>
          <a:noFill/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p20"/>
          <p:cNvSpPr/>
          <p:nvPr/>
        </p:nvSpPr>
        <p:spPr>
          <a:xfrm>
            <a:off x="7328926" y="4503420"/>
            <a:ext cx="1389900" cy="3291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7328926" y="4503420"/>
            <a:ext cx="138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"/>
          <p:cNvSpPr/>
          <p:nvPr/>
        </p:nvSpPr>
        <p:spPr>
          <a:xfrm>
            <a:off x="0" y="0"/>
            <a:ext cx="9144000" cy="1874520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6" name="Google Shape;536;p21"/>
          <p:cNvCxnSpPr/>
          <p:nvPr/>
        </p:nvCxnSpPr>
        <p:spPr>
          <a:xfrm>
            <a:off x="0" y="187452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1"/>
          <p:cNvSpPr/>
          <p:nvPr/>
        </p:nvSpPr>
        <p:spPr>
          <a:xfrm>
            <a:off x="457200" y="2286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457200" y="11887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C5D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7C5DE"/>
                </a:solidFill>
                <a:latin typeface="Calibri"/>
                <a:ea typeface="Calibri"/>
                <a:cs typeface="Calibri"/>
                <a:sym typeface="Calibri"/>
              </a:rPr>
              <a:t>No bad questions in this room.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6583680" y="14173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A3B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A3BE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457200" y="20574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Resources to Continue Learning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457200" y="252374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713232" y="251460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FastQC 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713232" y="2706624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bioinformatics.babraham.ac.uk/projects/fastqc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457200" y="2944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713232" y="2935224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Galaxy Project (no-code bioinformatics)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713232" y="3127248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usegalaxy.org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457200" y="33649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713232" y="335584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NCBI FASTA format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713232" y="3547872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ncbi.nlm.nih.gov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457200" y="37856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713232" y="3776472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pandas 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713232" y="3968496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pandas.pydata.org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457200" y="4206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713232" y="4197096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Bioinformatics Data Skills — Vince Buffalo (O'Reilly)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6291038" y="2137437"/>
            <a:ext cx="2606100" cy="752400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67C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6382474" y="2002571"/>
            <a:ext cx="2423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“Raw data is not knowledge.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Cleaned, structured data is.”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21"/>
          <p:cNvCxnSpPr/>
          <p:nvPr/>
        </p:nvCxnSpPr>
        <p:spPr>
          <a:xfrm>
            <a:off x="6720840" y="3063168"/>
            <a:ext cx="1737300" cy="0"/>
          </a:xfrm>
          <a:prstGeom prst="straightConnector1">
            <a:avLst/>
          </a:prstGeom>
          <a:noFill/>
          <a:ln cap="flat" cmpd="sng" w="10150">
            <a:solidFill>
              <a:srgbClr val="67C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21"/>
          <p:cNvSpPr/>
          <p:nvPr/>
        </p:nvSpPr>
        <p:spPr>
          <a:xfrm>
            <a:off x="6291072" y="3127175"/>
            <a:ext cx="260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6291075" y="3458063"/>
            <a:ext cx="2606100" cy="1351500"/>
          </a:xfrm>
          <a:prstGeom prst="rect">
            <a:avLst/>
          </a:prstGeom>
          <a:solidFill>
            <a:srgbClr val="F4F4F5"/>
          </a:solidFill>
          <a:ln cap="flat" cmpd="sng" w="12700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6382515" y="3513234"/>
            <a:ext cx="24231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6382515" y="3816673"/>
            <a:ext cx="24231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mokeddemsouhil968@gmail.com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6382515" y="4092527"/>
            <a:ext cx="24231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LinkedIn: souhil-mokeddem-aa979435b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6382515" y="4368381"/>
            <a:ext cx="24231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linkedin.com/in/souhil-mokeddem-aa979435b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4" name="Google Shape;564;p21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4D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5" name="Google Shape;565;p21"/>
          <p:cNvSpPr/>
          <p:nvPr/>
        </p:nvSpPr>
        <p:spPr>
          <a:xfrm>
            <a:off x="365760" y="4946675"/>
            <a:ext cx="8412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Souhil MOKEDDEM                                                                                                                                                                                                                                                                                      Bioinformatics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